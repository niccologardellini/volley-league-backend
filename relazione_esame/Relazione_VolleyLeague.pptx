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5669280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9D2E"/>
                </a:solidFill>
                <a:latin typeface="Calibri"/>
              </a:rPr>
              <a:t>01 · OGGETTO DEL PROGETTO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566928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Volley League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9D3F2"/>
                </a:solidFill>
                <a:latin typeface="Calibri"/>
              </a:rPr>
              <a:t>Piattaforma integrata per la gestione di campionati di pallavolo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539496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Sostituisce fogli Excel, referti cartacei e comunicati via email con un unico flusso digitale: dal tesseramento degli atleti all'omologazione del risultato, con classifica aggiornata in tempo reale.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9D2E"/>
                </a:solidFill>
                <a:latin typeface="Calibri"/>
              </a:rPr>
              <a:t>4 ruoli: Giudice sportivo (admin) · Dirigente di società · Arbitro · Giocatore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Dati demo: Serie D Maschile (10 squadre) e Serie C Maschile (8 squadre), girone A Emilia-Romagna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Angular 19 + Angular Material  ·  Spring Boot 3.4 + Spring Security JWT  ·  MySQL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54864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Niccolò Gardellini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3F2"/>
                </a:solidFill>
                <a:latin typeface="Calibri"/>
              </a:rPr>
              <a:t>Matricola 209464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C9D3F2"/>
                </a:solidFill>
                <a:latin typeface="Calibri"/>
              </a:rPr>
              <a:t>Ingegneria del Software · UniFE · A.A. 2025/26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9D2E"/>
                </a:solidFill>
                <a:latin typeface="Calibri"/>
              </a:rPr>
              <a:t>Progetto individuale · 30 story point · 3 macro-funzionalità FE+BE+DB</a:t>
            </a:r>
          </a:p>
        </p:txBody>
      </p:sp>
      <p:pic>
        <p:nvPicPr>
          <p:cNvPr id="8" name="Picture 7" descr="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914400"/>
            <a:ext cx="5394960" cy="3371850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pic>
        <p:nvPicPr>
          <p:cNvPr id="9" name="Picture 8" descr="03_classif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3977639"/>
            <a:ext cx="4023360" cy="2514600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Distribuzione del team e dei ruoli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Progetto individuale: tutte le attività sono state svolte dallo stesso studente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344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34440"/>
            <a:ext cx="82296" cy="146304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Analisi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73736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Requisiti, ruoli utente e regole di gioco; disegno funzionale su Miro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12344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46120" y="1234440"/>
            <a:ext cx="82296" cy="146304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344168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Pianificazione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Scomposizione delle 3 macro-funzionalità in task FE/BE/DB su Trello e stima in SP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8346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834640"/>
            <a:ext cx="82296" cy="146304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944368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Sviluppo 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33756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Modello E-R, 10 tabelle MySQL, vincoli UNIQUE/FK, dump dello schema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8346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46120" y="2834640"/>
            <a:ext cx="82296" cy="146304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29000" y="2944368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Sviluppo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337560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API REST Spring Boot, sicurezza JWT, pattern State/Strategy/Factory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348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434840"/>
            <a:ext cx="82296" cy="146304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544568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Sviluppo 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937759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Interfaccia Angular Material responsive, accesso per ruolo, validazione dei 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4434840"/>
            <a:ext cx="2697480" cy="14630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4434840"/>
            <a:ext cx="82296" cy="146304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544568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Test e documentazione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937759"/>
            <a:ext cx="242316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Test JUnit / Mockito / MockMvc, prove nel browser, relazione e video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118872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Contratto: 3 macro-funzionalità × (FE + BE + DB)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263640" y="164592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48640"/>
                <a:gridCol w="548640"/>
                <a:gridCol w="548640"/>
                <a:gridCol w="54864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Macro-funzionalità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MF1 · Organizzazione campionato e accesso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MF2 · Gestione squadra e lista gara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MF3 · Referto, omologazione e classifica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Totale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6263640" y="3703320"/>
            <a:ext cx="5486400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F4FD1"/>
                </a:solidFill>
                <a:latin typeface="Calibri"/>
              </a:rPr>
              <a:t>Stima degli story point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33"/>
                </a:solidFill>
                <a:latin typeface="Calibri"/>
              </a:rPr>
              <a:t>Scala di Fibonacci con riferimento CRUD = 2 SP: 2 SP per le operazioni CRUD, 3 SP per i task con logica più complessa (validazione referto, calendario, sicurezza JWT).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Evidenze delle cerimonie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Cerimonie svolte in forma individuale, scandite dal completamento delle 3 macro-funzionalità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82296" cy="12801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9844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Planning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33"/>
                </a:solidFill>
                <a:latin typeface="Calibri"/>
              </a:rPr>
              <a:t>All'avvio: scomposizione delle macro-funzionalità da Miro in task su Trello, stima in SP e ordine di lavoro MF1 → MF2 → MF3.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82296" cy="12801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29844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Punto quotidiano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9164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33"/>
                </a:solidFill>
                <a:latin typeface="Calibri"/>
              </a:rPr>
              <a:t>Breve verifica giornaliera: cosa è stato fatto, cosa resta, eventuali blocchi (es. vincolo provincia arbitri, rollback referto).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60604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606040"/>
            <a:ext cx="82296" cy="12801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1576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10896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33"/>
                </a:solidFill>
                <a:latin typeface="Calibri"/>
              </a:rPr>
              <a:t>Al termine di ogni macro-funzionalità: prova completa del flusso nel browser con gli account dei ruoli coinvolti.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606040"/>
            <a:ext cx="5577840" cy="128016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606040"/>
            <a:ext cx="82296" cy="12801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715768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C46"/>
                </a:solidFill>
                <a:latin typeface="Calibri"/>
              </a:rPr>
              <a:t>Retrospettiva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108960"/>
            <a:ext cx="52120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2033"/>
                </a:solidFill>
                <a:latin typeface="Calibri"/>
              </a:rPr>
              <a:t>A fine progetto: cosa ha funzionato, difficoltà e cosa migliorare (riportato nella slide Feedback).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11480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21C46"/>
                </a:solidFill>
                <a:latin typeface="Calibri"/>
              </a:rPr>
              <a:t>Review al completamento di ogni macro-funzionalità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11480" y="4526280"/>
          <a:ext cx="113385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6766560"/>
                <a:gridCol w="731520"/>
              </a:tblGrid>
              <a:tr h="38404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Macro-funzionalità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Flusso verificato nella review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MF1 · Organizzazione campionato e accesso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Login per ruolo, creazione campionato, calendario, designazione arbitri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MF2 · Gestione squadra e lista gara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Rosa, iscrizione, lista gara con controllo dei liberi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MF3 · Referto, omologazione e classifica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Referto con firma, omologa, classifica e area giocatore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Disegno funzionale (Miro)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Mappa delle 3 macro-funzionalità: ogni nota è una user story, il colore indica l'attore principale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4 / 10</a:t>
            </a:r>
          </a:p>
        </p:txBody>
      </p:sp>
      <p:pic>
        <p:nvPicPr>
          <p:cNvPr id="9" name="Picture 8" descr="miro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11338560" cy="4619413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11480" y="5989320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Board Miro: miro.com/app/board/uXjVEUGhGFs= · attori a sinistra, le 3 macro-funzionalità con i rispettivi SP e le attività di ciascuna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Board Trello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12 card di sviluppo con etichetta di livello (FE/BE/DB) e story point · totale 30 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5 / 10</a:t>
            </a:r>
          </a:p>
        </p:txBody>
      </p:sp>
      <p:pic>
        <p:nvPicPr>
          <p:cNvPr id="9" name="Picture 8" descr="trello_board_re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11338560" cy="3429223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411480" y="5257800"/>
            <a:ext cx="2724912" cy="7772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285232"/>
            <a:ext cx="960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4FD1"/>
                </a:solidFill>
                <a:latin typeface="Calibr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5285232"/>
            <a:ext cx="15544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card di sviluppo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5257800"/>
            <a:ext cx="2724912" cy="7772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5285232"/>
            <a:ext cx="960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4FD1"/>
                </a:solidFill>
                <a:latin typeface="Calibri"/>
              </a:rPr>
              <a:t>30 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0832" y="5285232"/>
            <a:ext cx="15544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10 + 8 + 12 per macro-funzione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5257800"/>
            <a:ext cx="2724912" cy="7772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5285232"/>
            <a:ext cx="960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4FD1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2904" y="5285232"/>
            <a:ext cx="15544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macro-funzionalità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5257800"/>
            <a:ext cx="2724912" cy="77724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5285232"/>
            <a:ext cx="960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4FD1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4976" y="5285232"/>
            <a:ext cx="155448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etichette: FE · BE ·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108192"/>
            <a:ext cx="113385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Board pubblica: trello.com/b/6vciU88a/volley-league · story point indicati nel titolo di ogni card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Test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94 test automatici, 0 fallimenti · ./gradlew test (H2 in modalità MySQL, nessun DB esterno richiesto)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6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188720"/>
          <a:ext cx="7040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777240"/>
                <a:gridCol w="411480"/>
                <a:gridCol w="3703320"/>
              </a:tblGrid>
              <a:tr h="365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Classe di test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Tipo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N.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Cosa verifica</a:t>
                      </a:r>
                    </a:p>
                  </a:txBody>
                  <a:tcPr marL="54864" marR="54864" marT="18288" marB="18288" anchor="ctr">
                    <a:solidFill>
                      <a:srgbClr val="121C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RefertoValidatorTest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Set a 25/15 con scarto 2, vincitore a 3 set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ClassificaTest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3-0/3-1 → 3-0 pt, 3-2 → 2-1, quozienti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MacchinaStatiPartitaTest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Transizioni lecite e illecite (State)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GeneratoreCalendarioTest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Berger: ogni coppia andata e ritorno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VincoliEListaGaraTest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Unit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Stessa società/provincia, 14 atleti, liberi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DesignazioneServiceTest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Mockito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Designazione rifiutata se vincolo violato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RefertoTransazionaleIT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Integr.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@Transactional rollback, firma, omologa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SicurezzaRbacIT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MockMvc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401 senza token, 403 per ruolo errato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BackendApplicationTests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Smoke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A2033"/>
                          </a:solidFill>
                          <a:latin typeface="Calibri"/>
                        </a:defRPr>
                      </a:pPr>
                      <a:r>
                        <a:t>Avvio contesto Spring</a:t>
                      </a:r>
                    </a:p>
                  </a:txBody>
                  <a:tcPr marL="54864" marR="54864" marT="18288" marB="18288" anchor="ctr">
                    <a:solidFill>
                      <a:srgbClr val="F3F5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11480" y="4983480"/>
            <a:ext cx="704088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F4FD1"/>
                </a:solidFill>
                <a:latin typeface="Calibri"/>
              </a:rPr>
              <a:t>Esempio · rollback transazionale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33"/>
                </a:solidFill>
                <a:latin typeface="Calibri"/>
              </a:rPr>
              <a:t>Dato un referto con 3 set validi e una statistica riferita a un atleta non in lista gara, quando l'arbitro invia, allora il servizio lancia eccezione e nel DB non resta alcun set_partita: la partita torna IN_CORSO.</a:t>
            </a:r>
          </a:p>
        </p:txBody>
      </p:sp>
      <p:pic>
        <p:nvPicPr>
          <p:cNvPr id="11" name="Picture 10" descr="30_test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188720"/>
            <a:ext cx="4114800" cy="2842953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680960" y="4069080"/>
            <a:ext cx="4114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Report Gradle: 94 test, 100% successi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434840"/>
            <a:ext cx="411480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4FD1"/>
                </a:solidFill>
                <a:latin typeface="Calibri"/>
              </a:rPr>
              <a:t>Test manuali end-to-end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2033"/>
                </a:solidFill>
                <a:latin typeface="Calibri"/>
              </a:rPr>
              <a:t>Percorso completo con i 4 account demo: designa → lista gara → referto con errore → correzione e firma → omologa → classifica e statistiche aggiornate. Verificato anche il layout mobile.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Disegno architetturale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Architettura a 3 livelli, MVC lato backend, comunicazione REST/JSON stateless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7 / 10</a:t>
            </a:r>
          </a:p>
        </p:txBody>
      </p:sp>
      <p:pic>
        <p:nvPicPr>
          <p:cNvPr id="9" name="Picture 8" descr="architet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6532418" cy="5257800"/>
          </a:xfrm>
          <a:prstGeom prst="rect">
            <a:avLst/>
          </a:prstGeom>
        </p:spPr>
      </p:pic>
      <p:pic>
        <p:nvPicPr>
          <p:cNvPr id="10" name="Picture 9" descr="schema_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143000"/>
            <a:ext cx="4709160" cy="3790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86600" y="4937760"/>
            <a:ext cx="4709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Schema E-R (database webapp, utente webappuser)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5257800"/>
            <a:ext cx="470916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Pattern: State (stato partita) · Strategy (criterio classifica: FIPAV, vittorie, quoziente set) · Factory (creazione set/statistiche e impronta SHA-256).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Errori uniformi via @RestControllerAdvice: 400 · 401 · 403 · 404 · 409 · 422.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Funzionalità implementate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Ogni ruolo vede solo il proprio menu; i controlli sono ripetuti lato server con @PreAuthorize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2724912" cy="278892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" y="1188720"/>
            <a:ext cx="2724912" cy="457200"/>
          </a:xfrm>
          <a:prstGeom prst="roundRect">
            <a:avLst>
              <a:gd name="adj" fmla="val 8000"/>
            </a:avLst>
          </a:prstGeom>
          <a:solidFill>
            <a:srgbClr val="1F4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16152"/>
            <a:ext cx="1828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Giudice sportivo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216152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FF9D2E"/>
                </a:solidFill>
                <a:latin typeface="Calibri"/>
              </a:rPr>
              <a:t>MF1 · MF3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" y="1755648"/>
            <a:ext cx="2542032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Crea campionati e gironi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Iscrive le squadre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Genera calendario andata/ritorno (Berger)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Designa arbitri con vincoli società, provincia, stesso giorno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Omologa o respinge i referti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1188720"/>
            <a:ext cx="2724912" cy="278892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73552" y="1188720"/>
            <a:ext cx="2724912" cy="457200"/>
          </a:xfrm>
          <a:prstGeom prst="roundRect">
            <a:avLst>
              <a:gd name="adj" fmla="val 8000"/>
            </a:avLst>
          </a:prstGeom>
          <a:solidFill>
            <a:srgbClr val="1F4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0712" y="1216152"/>
            <a:ext cx="1828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Dirigente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6632" y="1216152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FF9D2E"/>
                </a:solidFill>
                <a:latin typeface="Calibri"/>
              </a:rPr>
              <a:t>MF2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1755648"/>
            <a:ext cx="2542032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Vede le squadre della propria società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Tessera atleti e staff (CRUD rosa)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Compila lista gara: 6-14 atleti, max 2 liberi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Invio liste → partita ROSTER_INVIATI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188720"/>
            <a:ext cx="2724912" cy="278892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35624" y="1188720"/>
            <a:ext cx="2724912" cy="457200"/>
          </a:xfrm>
          <a:prstGeom prst="roundRect">
            <a:avLst>
              <a:gd name="adj" fmla="val 8000"/>
            </a:avLst>
          </a:prstGeom>
          <a:solidFill>
            <a:srgbClr val="1F4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2784" y="1216152"/>
            <a:ext cx="1828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Arbitro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8704" y="1216152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FF9D2E"/>
                </a:solidFill>
                <a:latin typeface="Calibri"/>
              </a:rPr>
              <a:t>MF3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55648"/>
            <a:ext cx="2542032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Elenco designazioni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Avvio gara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Referto set per set con validazione live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Statistiche e cartellini per atleta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Firma con password e invio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188720"/>
            <a:ext cx="2724912" cy="278892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97696" y="1188720"/>
            <a:ext cx="2724912" cy="457200"/>
          </a:xfrm>
          <a:prstGeom prst="roundRect">
            <a:avLst>
              <a:gd name="adj" fmla="val 8000"/>
            </a:avLst>
          </a:prstGeom>
          <a:solidFill>
            <a:srgbClr val="1F4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1216152"/>
            <a:ext cx="18288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Giocatore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0776" y="1216152"/>
            <a:ext cx="86868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FF9D2E"/>
                </a:solidFill>
                <a:latin typeface="Calibri"/>
              </a:rPr>
              <a:t>MF3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07424" y="1755648"/>
            <a:ext cx="2542032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Calendario della squadra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Presenze e statistiche stagionali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Grafico punti per gara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•  Classifica del girone</a:t>
            </a:r>
          </a:p>
        </p:txBody>
      </p:sp>
      <p:pic>
        <p:nvPicPr>
          <p:cNvPr id="29" name="Picture 28" descr="02_admin_campiona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0"/>
            <a:ext cx="2724912" cy="1703070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30" name="TextBox 29"/>
          <p:cNvSpPr txBox="1"/>
          <p:nvPr/>
        </p:nvSpPr>
        <p:spPr>
          <a:xfrm>
            <a:off x="411480" y="5852160"/>
            <a:ext cx="272491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Campionati (giudice)</a:t>
            </a:r>
          </a:p>
        </p:txBody>
      </p:sp>
      <p:pic>
        <p:nvPicPr>
          <p:cNvPr id="31" name="Picture 30" descr="06_designa_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4114800"/>
            <a:ext cx="2724912" cy="1703070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3273552" y="5852160"/>
            <a:ext cx="272491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Designazione con vincoli</a:t>
            </a:r>
          </a:p>
        </p:txBody>
      </p:sp>
      <p:pic>
        <p:nvPicPr>
          <p:cNvPr id="33" name="Picture 32" descr="09_ro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4114800"/>
            <a:ext cx="2724912" cy="1703070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6135624" y="5852160"/>
            <a:ext cx="272491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Rosa (dirigente)</a:t>
            </a:r>
          </a:p>
        </p:txBody>
      </p:sp>
      <p:pic>
        <p:nvPicPr>
          <p:cNvPr id="35" name="Picture 34" descr="21_area_gioca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696" y="4114800"/>
            <a:ext cx="2724912" cy="1703070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8997696" y="5852160"/>
            <a:ext cx="272491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Area giocatore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12648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A6378"/>
                </a:solidFill>
                <a:latin typeface="Calibri"/>
              </a:rPr>
              <a:t>Accessibilità: lang="it", label su ogni campo, contrasto AA, focus visibile, navigazione da tastiera, layout responsive con sidenav a scomparsa.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Dettaglio: referto digitale e omologazione (MF3)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Il flusso più critico: deve garantire risultati regolari, atomicità del salvataggio e tracciabilità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9 / 10</a:t>
            </a:r>
          </a:p>
        </p:txBody>
      </p:sp>
      <p:pic>
        <p:nvPicPr>
          <p:cNvPr id="9" name="Picture 8" descr="stati_part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6400800" cy="1447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480" y="2697480"/>
            <a:ext cx="6400800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1F4FD1"/>
                </a:solidFill>
                <a:latin typeface="Calibri"/>
              </a:rPr>
              <a:t>1 · Validazione (RefertoValidator)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Set 1-4 a 25, tie-break a 15, sempre con 2 punti di scarto; chi vince deve arrivare esattamente a 3 set. Stesse regole replicate in Angular per l'errore immediato.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1F4FD1"/>
                </a:solidFill>
                <a:latin typeface="Calibri"/>
              </a:rPr>
              <a:t>2 · Salvataggio atomico (@Transactional)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Set, statistiche e cambio di stato in un'unica transazione: un atleta non in lista gara provoca rollback completo (testato in RefertoTransazionaleIT).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1F4FD1"/>
                </a:solidFill>
                <a:latin typeface="Calibri"/>
              </a:rPr>
              <a:t>3 · Firma e impronta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L'arbitro ri-digita la password (BCrypt); RefertoFactory calcola un hash SHA-256 del referto, salvato in hash_referto per rilevare modifiche successive.</a:t>
            </a:r>
          </a:p>
          <a:p>
            <a:pPr algn="l">
              <a:spcAft>
                <a:spcPts val="100"/>
              </a:spcAft>
            </a:pPr>
            <a:r>
              <a:rPr sz="1200" b="1">
                <a:solidFill>
                  <a:srgbClr val="1F4FD1"/>
                </a:solidFill>
                <a:latin typeface="Calibri"/>
              </a:rPr>
              <a:t>4 · Omologa → classifica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1A2033"/>
                </a:solidFill>
                <a:latin typeface="Calibri"/>
              </a:rPr>
              <a:t>Solo dopo l'omologa la Strategy FIPAV aggiorna la classifica: punti, poi quoziente set, poi quoziente punti.</a:t>
            </a:r>
          </a:p>
        </p:txBody>
      </p:sp>
      <p:pic>
        <p:nvPicPr>
          <p:cNvPr id="11" name="Picture 10" descr="15_referto_errore_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097280"/>
            <a:ext cx="4709160" cy="2943225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086600" y="4069080"/>
            <a:ext cx="4709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Set irregolare (25-24) segnalato prima dell'invio</a:t>
            </a:r>
          </a:p>
        </p:txBody>
      </p:sp>
      <p:pic>
        <p:nvPicPr>
          <p:cNvPr id="13" name="Picture 12" descr="17_referto_fir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389120"/>
            <a:ext cx="3291840" cy="2057400"/>
          </a:xfrm>
          <a:prstGeom prst="rect">
            <a:avLst/>
          </a:prstGeom>
          <a:ln w="9525">
            <a:solidFill>
              <a:srgbClr val="D5DAE5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0469880" y="4434840"/>
            <a:ext cx="137160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21C46"/>
                </a:solidFill>
                <a:latin typeface="Calibri"/>
              </a:rPr>
              <a:t>Firma digitale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Conferma esplicita e password dell'arbitro prima dell'invio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715000"/>
            <a:ext cx="6400800" cy="658368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751576"/>
            <a:ext cx="6217920" cy="594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21C46"/>
                </a:solidFill>
                <a:latin typeface="Calibri"/>
              </a:rPr>
              <a:t>POST /api/partite/{id}/referto  ·  /omologa  ·  /respingi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5A6378"/>
                </a:solidFill>
                <a:latin typeface="Calibri"/>
              </a:rPr>
              <a:t>422 se i set non sono validi · 403 se l'arbitro non è quello designato · 409 se lo stato non lo consente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21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9144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9D2E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09728"/>
            <a:ext cx="86868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02920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9D3F2"/>
                </a:solidFill>
                <a:latin typeface="Calibri"/>
              </a:rPr>
              <a:t>Retrospettiva finale del progetto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Volley League · Niccolò Gardellini · Ingegneria del Software · UniFE · A.A. 2025/26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A6378"/>
                </a:solidFill>
                <a:latin typeface="Calibri"/>
              </a:rP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91440" cy="2194560"/>
          </a:xfrm>
          <a:prstGeom prst="rect">
            <a:avLst/>
          </a:prstGeom>
          <a:solidFill>
            <a:srgbClr val="116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16336"/>
                </a:solidFill>
                <a:latin typeface="Calibri"/>
              </a:rPr>
              <a:t>Cosa ha funzionato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8288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Il riferimento CRUD = 2 SP ha reso semplice dividere e stimare il lavoro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Scrivere i test del validatore prima dell'UI ha evitato regressioni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Il seed demo ha reso rapide review e verifica manuale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188720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188720"/>
            <a:ext cx="91440" cy="21945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325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B3261E"/>
                </a:solidFill>
                <a:latin typeface="Calibri"/>
              </a:rPr>
              <a:t>Difficoltà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Vincoli di designazione (provincia, stesso giorno) più complessi del previsto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Rollback con più entità: necessario flush esplicito e test di integrazione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Gestire da solo analisi, sviluppo e test richiede organizzazione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520439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520439"/>
            <a:ext cx="91440" cy="2194560"/>
          </a:xfrm>
          <a:prstGeom prst="rect">
            <a:avLst/>
          </a:prstGeom>
          <a:solidFill>
            <a:srgbClr val="1F4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657599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4FD1"/>
                </a:solidFill>
                <a:latin typeface="Calibri"/>
              </a:rPr>
              <a:t>Cosa ho imparato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Spring Security stateless con JWT e @PreAuthorize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Signals e componenti standalone in Angular 19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Applicare State, Strategy e Factory a regole di dominio reali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520439"/>
            <a:ext cx="5577840" cy="2194560"/>
          </a:xfrm>
          <a:prstGeom prst="roundRect">
            <a:avLst>
              <a:gd name="adj" fmla="val 8000"/>
            </a:avLst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3520439"/>
            <a:ext cx="91440" cy="2194560"/>
          </a:xfrm>
          <a:prstGeom prst="rect">
            <a:avLst/>
          </a:prstGeom>
          <a:solidFill>
            <a:srgbClr val="FF9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57599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9D2E"/>
                </a:solidFill>
                <a:latin typeface="Calibri"/>
              </a:rPr>
              <a:t>Sviluppi futuri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160520"/>
            <a:ext cx="51206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Playoff e fasi finali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Notifiche email delle designazioni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A2033"/>
                </a:solidFill>
                <a:latin typeface="Calibri"/>
              </a:rPr>
              <a:t>•  Firma digitale qualificata e export PDF del referto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897880"/>
            <a:ext cx="11338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21C46"/>
                </a:solidFill>
                <a:latin typeface="Calibri"/>
              </a:rPr>
              <a:t>Video demo: relazione_esame/demo.mp4  ·  Repository, Trello, Miro e Figma: relazione_esame/LINKS.txt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Volley League - Relazione d'esame</dc:title>
  <dc:subject>Ingegneria del Software · UniFE · A.A. 2025/26</dc:subject>
  <dc:creator>Niccolò Gardellini</dc:creator>
  <cp:keywords/>
  <dc:description/>
  <cp:lastModifiedBy>Niccolò Gardellini</cp:lastModifiedBy>
  <cp:revision>1</cp:revision>
  <dcterms:created xsi:type="dcterms:W3CDTF">2026-10-28T17:25:51Z</dcterms:created>
  <dcterms:modified xsi:type="dcterms:W3CDTF">2026-10-28T17:25:51Z</dcterms:modified>
  <cp:category/>
</cp:coreProperties>
</file>